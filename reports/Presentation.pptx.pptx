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League Spartan" charset="1" panose="00000800000000000000"/>
      <p:regular r:id="rId20"/>
    </p:embeddedFont>
    <p:embeddedFont>
      <p:font typeface="Roboto Bold" charset="1" panose="02000000000000000000"/>
      <p:regular r:id="rId21"/>
    </p:embeddedFont>
    <p:embeddedFont>
      <p:font typeface="Poppins Bold" charset="1" panose="00000800000000000000"/>
      <p:regular r:id="rId22"/>
    </p:embeddedFont>
    <p:embeddedFont>
      <p:font typeface="Roboto" charset="1" panose="02000000000000000000"/>
      <p:regular r:id="rId23"/>
    </p:embeddedFont>
    <p:embeddedFont>
      <p:font typeface="Poppins" charset="1" panose="000005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9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2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3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14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2.jpe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072505" y="4057750"/>
            <a:ext cx="3086100" cy="2171499"/>
            <a:chOff x="0" y="0"/>
            <a:chExt cx="812800" cy="571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210317" y="706438"/>
            <a:ext cx="1724375" cy="1724375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3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596016" y="3619701"/>
            <a:ext cx="11231111" cy="288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MUTUAL FUND ANALYTICS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21706" y="2511278"/>
            <a:ext cx="8044588" cy="9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CAPSTONE PROJECT-I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39468" y="6791124"/>
            <a:ext cx="8526827" cy="907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27"/>
              </a:lnSpc>
            </a:pPr>
            <a:r>
              <a:rPr lang="en-US" sz="2519" b="true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by- Shubhangi Chouhan</a:t>
            </a:r>
          </a:p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b="true" sz="2519">
                <a:solidFill>
                  <a:srgbClr val="303642"/>
                </a:solidFill>
                <a:latin typeface="Poppins Bold"/>
                <a:ea typeface="Poppins Bold"/>
                <a:cs typeface="Poppins Bold"/>
                <a:sym typeface="Poppins Bold"/>
              </a:rPr>
              <a:t>12 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6792707" cy="10287000"/>
            <a:chOff x="0" y="0"/>
            <a:chExt cx="178902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89026" cy="2709333"/>
            </a:xfrm>
            <a:custGeom>
              <a:avLst/>
              <a:gdLst/>
              <a:ahLst/>
              <a:cxnLst/>
              <a:rect r="r" b="b" t="t" l="l"/>
              <a:pathLst>
                <a:path h="2709333" w="1789026">
                  <a:moveTo>
                    <a:pt x="0" y="0"/>
                  </a:moveTo>
                  <a:lnTo>
                    <a:pt x="1789026" y="0"/>
                  </a:lnTo>
                  <a:lnTo>
                    <a:pt x="178902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78902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9411" y="1627467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b="true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STATEMENT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3166" y="3125664"/>
            <a:ext cx="5634574" cy="40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3"/>
              </a:lnSpc>
              <a:spcBef>
                <a:spcPct val="0"/>
              </a:spcBef>
            </a:pPr>
            <a:r>
              <a:rPr lang="en-US" sz="327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rapid expansion of India's capital markets has generated vast, decentralized datasets, complicating the extraction of clear market intelligence.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9049" y="2823952"/>
            <a:ext cx="9045092" cy="213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0"/>
              </a:lnSpc>
              <a:spcBef>
                <a:spcPct val="0"/>
              </a:spcBef>
            </a:pPr>
            <a:r>
              <a:rPr lang="en-US" sz="302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This project aims to synthesize disparate data sources into a cohesive analytical framework to evaluate fund performance and discern critical retail investor behavior.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1272927"/>
            <a:ext cx="675904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b="true" sz="47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207266" y="661159"/>
            <a:ext cx="1204434" cy="1204434"/>
            <a:chOff x="0" y="0"/>
            <a:chExt cx="11671300" cy="11671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3"/>
              <a:stretch>
                <a:fillRect l="223" t="-4465" r="223" b="-446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685142" y="1431973"/>
            <a:ext cx="1868266" cy="186826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809531" y="5794725"/>
            <a:ext cx="1868266" cy="186826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974147" y="2045354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b="true" sz="45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DATA INTEGRITY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4936" y="459974"/>
            <a:ext cx="7296091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99857" y="1729137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24246" y="6113006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4362" y="3282297"/>
            <a:ext cx="7763905" cy="210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study utilizes a structured repository of industry-wide metrics, including historical Net Asset Values (NAV), Asset Under Management (AUM) fluctuations, and comprehensive transaction logs.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82982" y="7577266"/>
            <a:ext cx="6769517" cy="144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823"/>
              </a:lnSpc>
              <a:spcBef>
                <a:spcPct val="0"/>
              </a:spcBef>
            </a:pPr>
            <a:r>
              <a:rPr lang="en-US" sz="273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All data sets were verified for consistency to ensure the accuracy of the subsequent analytical modeling.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43664" y="6429223"/>
            <a:ext cx="550883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372"/>
              </a:lnSpc>
            </a:pPr>
            <a:r>
              <a:rPr lang="en-US" b="true" sz="455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6276051" y="816553"/>
            <a:ext cx="1230840" cy="1230840"/>
            <a:chOff x="0" y="0"/>
            <a:chExt cx="11671300" cy="11671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3"/>
              <a:stretch>
                <a:fillRect l="223" t="-4465" r="223" b="-4465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55653" y="2620393"/>
            <a:ext cx="1291766" cy="1950777"/>
          </a:xfrm>
          <a:custGeom>
            <a:avLst/>
            <a:gdLst/>
            <a:ahLst/>
            <a:cxnLst/>
            <a:rect r="r" b="b" t="t" l="l"/>
            <a:pathLst>
              <a:path h="1950777" w="1291766">
                <a:moveTo>
                  <a:pt x="0" y="0"/>
                </a:moveTo>
                <a:lnTo>
                  <a:pt x="1291766" y="0"/>
                </a:lnTo>
                <a:lnTo>
                  <a:pt x="1291766" y="1950777"/>
                </a:lnTo>
                <a:lnTo>
                  <a:pt x="0" y="195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9" t="-21344" r="-168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07478"/>
            <a:ext cx="6066821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4400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208744"/>
            <a:ext cx="7275997" cy="1934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datasets were systematically cleansed, transformed, and migrated into a centralized SQLite database, facilitating efficient and scalable query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0" y="1931996"/>
            <a:ext cx="4913620" cy="68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4"/>
              </a:lnSpc>
            </a:pPr>
            <a:r>
              <a:rPr lang="en-US" sz="413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Raw Data(Csv files)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51563" y="4455103"/>
            <a:ext cx="4213566" cy="688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4"/>
              </a:lnSpc>
            </a:pPr>
            <a:r>
              <a:rPr lang="en-US" sz="413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Processing (ETL)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765854" y="5143500"/>
            <a:ext cx="1291766" cy="1950777"/>
          </a:xfrm>
          <a:custGeom>
            <a:avLst/>
            <a:gdLst/>
            <a:ahLst/>
            <a:cxnLst/>
            <a:rect r="r" b="b" t="t" l="l"/>
            <a:pathLst>
              <a:path h="1950777" w="1291766">
                <a:moveTo>
                  <a:pt x="0" y="0"/>
                </a:moveTo>
                <a:lnTo>
                  <a:pt x="1291766" y="0"/>
                </a:lnTo>
                <a:lnTo>
                  <a:pt x="1291766" y="1950777"/>
                </a:lnTo>
                <a:lnTo>
                  <a:pt x="0" y="1950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89" t="-21344" r="-168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786032" y="7114573"/>
            <a:ext cx="6543176" cy="214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1"/>
              </a:lnSpc>
            </a:pPr>
            <a:r>
              <a:rPr lang="en-US" sz="410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Storage &amp;output</a:t>
            </a:r>
          </a:p>
          <a:p>
            <a:pPr algn="ctr">
              <a:lnSpc>
                <a:spcPts val="5741"/>
              </a:lnSpc>
            </a:pPr>
            <a:r>
              <a:rPr lang="en-US" sz="410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(SQLite Database to Dashboard)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6105495" y="936754"/>
            <a:ext cx="1372778" cy="1372778"/>
            <a:chOff x="0" y="0"/>
            <a:chExt cx="11671300" cy="116713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644332"/>
            <a:ext cx="7861091" cy="7353618"/>
          </a:xfrm>
          <a:custGeom>
            <a:avLst/>
            <a:gdLst/>
            <a:ahLst/>
            <a:cxnLst/>
            <a:rect r="r" b="b" t="t" l="l"/>
            <a:pathLst>
              <a:path h="7353618" w="7861091">
                <a:moveTo>
                  <a:pt x="0" y="0"/>
                </a:moveTo>
                <a:lnTo>
                  <a:pt x="7861091" y="0"/>
                </a:lnTo>
                <a:lnTo>
                  <a:pt x="7861091" y="7353618"/>
                </a:lnTo>
                <a:lnTo>
                  <a:pt x="0" y="7353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45" r="0" b="-74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36468" y="861592"/>
            <a:ext cx="6580556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EDA HIGHLIGHTS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72718" y="1897027"/>
            <a:ext cx="6108056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MARKET 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09459" y="3423945"/>
            <a:ext cx="5634574" cy="171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  <a:spcBef>
                <a:spcPct val="0"/>
              </a:spcBef>
            </a:pPr>
            <a:r>
              <a:rPr lang="en-US" sz="24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Longitudinal examination of NAV trends to identify resilience and patterns across diverse market cycles.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09459" y="5772150"/>
            <a:ext cx="6368135" cy="126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0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 assessment of portfolio weightage to determine strategic risk-mitigation approaches within major fund houses.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244246" y="8311561"/>
            <a:ext cx="1372778" cy="1372778"/>
            <a:chOff x="0" y="0"/>
            <a:chExt cx="11671300" cy="11671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46190" y="2044933"/>
            <a:ext cx="7597810" cy="7213367"/>
          </a:xfrm>
          <a:custGeom>
            <a:avLst/>
            <a:gdLst/>
            <a:ahLst/>
            <a:cxnLst/>
            <a:rect r="r" b="b" t="t" l="l"/>
            <a:pathLst>
              <a:path h="7213367" w="7597810">
                <a:moveTo>
                  <a:pt x="0" y="0"/>
                </a:moveTo>
                <a:lnTo>
                  <a:pt x="7597810" y="0"/>
                </a:lnTo>
                <a:lnTo>
                  <a:pt x="7597810" y="7213367"/>
                </a:lnTo>
                <a:lnTo>
                  <a:pt x="0" y="72133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98156" y="982627"/>
            <a:ext cx="5634574" cy="181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INVESTOR DEMOGRAPHICS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311474" y="3598528"/>
            <a:ext cx="6305550" cy="131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0"/>
              </a:lnSpc>
              <a:spcBef>
                <a:spcPct val="0"/>
              </a:spcBef>
            </a:pPr>
            <a:r>
              <a:rPr lang="en-US" sz="247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Advanced clustering of investor data by gender, geographic tier, and state distribution.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83439" y="5642481"/>
            <a:ext cx="6361619" cy="1728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4"/>
              </a:lnSpc>
              <a:spcBef>
                <a:spcPct val="0"/>
              </a:spcBef>
            </a:pPr>
            <a:r>
              <a:rPr lang="en-US" sz="243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Evaluation of how regional shifts and demographic trends serve as indicators for future market penetration.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6396646" y="8463961"/>
            <a:ext cx="1372778" cy="1372778"/>
            <a:chOff x="0" y="0"/>
            <a:chExt cx="11671300" cy="11671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881669" y="1703160"/>
            <a:ext cx="7923180" cy="7714083"/>
          </a:xfrm>
          <a:custGeom>
            <a:avLst/>
            <a:gdLst/>
            <a:ahLst/>
            <a:cxnLst/>
            <a:rect r="r" b="b" t="t" l="l"/>
            <a:pathLst>
              <a:path h="7714083" w="7923180">
                <a:moveTo>
                  <a:pt x="0" y="0"/>
                </a:moveTo>
                <a:lnTo>
                  <a:pt x="7923180" y="0"/>
                </a:lnTo>
                <a:lnTo>
                  <a:pt x="7923180" y="7714084"/>
                </a:lnTo>
                <a:lnTo>
                  <a:pt x="0" y="7714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549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22828"/>
            <a:ext cx="692254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PERFORMANCE METRICS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22258" y="2464418"/>
            <a:ext cx="6562506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FUND EVALUTION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560369"/>
            <a:ext cx="7290464" cy="143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Comparative study of growth-oriented equity schemes to identify sustainable performance drivers.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445537"/>
            <a:ext cx="7290464" cy="191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of a rigorous scorecard methodology to assess fund performance against established market benchmarks.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6118460" y="342311"/>
            <a:ext cx="1372778" cy="1372778"/>
            <a:chOff x="0" y="0"/>
            <a:chExt cx="11671300" cy="11671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622253"/>
            <a:ext cx="4842085" cy="181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RISK ADJUSTED 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RETURNS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9463" y="4625489"/>
            <a:ext cx="12750590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of SIP inflow stability, serving as a vital proxy for retail investor sentiment and market long-term outlook</a:t>
            </a:r>
            <a:r>
              <a:rPr lang="en-US" sz="271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9463" y="2934878"/>
            <a:ext cx="15122261" cy="95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6"/>
              </a:lnSpc>
              <a:spcBef>
                <a:spcPct val="0"/>
              </a:spcBef>
            </a:pPr>
            <a:r>
              <a:rPr lang="en-US" sz="271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of the Sharpe Ratio and volatility assessments to distinguish between tactical performance and sustained investment efficacy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238399" y="736553"/>
            <a:ext cx="1372778" cy="1372778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3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951120" y="2406894"/>
            <a:ext cx="11418799" cy="6404338"/>
          </a:xfrm>
          <a:custGeom>
            <a:avLst/>
            <a:gdLst/>
            <a:ahLst/>
            <a:cxnLst/>
            <a:rect r="r" b="b" t="t" l="l"/>
            <a:pathLst>
              <a:path h="6404338" w="11418799">
                <a:moveTo>
                  <a:pt x="0" y="0"/>
                </a:moveTo>
                <a:lnTo>
                  <a:pt x="11418799" y="0"/>
                </a:lnTo>
                <a:lnTo>
                  <a:pt x="11418799" y="6404338"/>
                </a:lnTo>
                <a:lnTo>
                  <a:pt x="0" y="6404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695" y="523708"/>
            <a:ext cx="527685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4492" y="1322323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390799" y="888953"/>
            <a:ext cx="1372778" cy="1372778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85535" y="2925026"/>
            <a:ext cx="12067409" cy="6914505"/>
          </a:xfrm>
          <a:custGeom>
            <a:avLst/>
            <a:gdLst/>
            <a:ahLst/>
            <a:cxnLst/>
            <a:rect r="r" b="b" t="t" l="l"/>
            <a:pathLst>
              <a:path h="6914505" w="12067409">
                <a:moveTo>
                  <a:pt x="0" y="0"/>
                </a:moveTo>
                <a:lnTo>
                  <a:pt x="12067409" y="0"/>
                </a:lnTo>
                <a:lnTo>
                  <a:pt x="12067409" y="6914505"/>
                </a:lnTo>
                <a:lnTo>
                  <a:pt x="0" y="69145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09" r="0" b="-110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695" y="523708"/>
            <a:ext cx="527685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4492" y="1322323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886522" y="750234"/>
            <a:ext cx="1372778" cy="1372778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529130" y="2480526"/>
            <a:ext cx="11882984" cy="6777774"/>
          </a:xfrm>
          <a:custGeom>
            <a:avLst/>
            <a:gdLst/>
            <a:ahLst/>
            <a:cxnLst/>
            <a:rect r="r" b="b" t="t" l="l"/>
            <a:pathLst>
              <a:path h="6777774" w="11882984">
                <a:moveTo>
                  <a:pt x="0" y="0"/>
                </a:moveTo>
                <a:lnTo>
                  <a:pt x="11882984" y="0"/>
                </a:lnTo>
                <a:lnTo>
                  <a:pt x="11882984" y="6777774"/>
                </a:lnTo>
                <a:lnTo>
                  <a:pt x="0" y="6777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695" y="523708"/>
            <a:ext cx="527685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4492" y="1322323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5886522" y="628483"/>
            <a:ext cx="1372778" cy="1372778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982450" y="8997950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890918" y="2669900"/>
            <a:ext cx="12506163" cy="7061582"/>
          </a:xfrm>
          <a:custGeom>
            <a:avLst/>
            <a:gdLst/>
            <a:ahLst/>
            <a:cxnLst/>
            <a:rect r="r" b="b" t="t" l="l"/>
            <a:pathLst>
              <a:path h="7061582" w="12506163">
                <a:moveTo>
                  <a:pt x="0" y="0"/>
                </a:moveTo>
                <a:lnTo>
                  <a:pt x="12506164" y="0"/>
                </a:lnTo>
                <a:lnTo>
                  <a:pt x="12506164" y="7061582"/>
                </a:lnTo>
                <a:lnTo>
                  <a:pt x="0" y="7061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12695" y="523708"/>
            <a:ext cx="5276850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4492" y="1322323"/>
            <a:ext cx="4842085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</a:p>
        </p:txBody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6038922" y="780883"/>
            <a:ext cx="1372778" cy="1372778"/>
            <a:chOff x="0" y="0"/>
            <a:chExt cx="11671300" cy="11671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4"/>
              <a:stretch>
                <a:fillRect l="223" t="-4465" r="223" b="-4465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12138" y="9580526"/>
            <a:ext cx="2514600" cy="260350"/>
            <a:chOff x="0" y="0"/>
            <a:chExt cx="662281" cy="685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2281" cy="68570"/>
            </a:xfrm>
            <a:custGeom>
              <a:avLst/>
              <a:gdLst/>
              <a:ahLst/>
              <a:cxnLst/>
              <a:rect r="r" b="b" t="t" l="l"/>
              <a:pathLst>
                <a:path h="68570" w="662281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40942" y="626420"/>
            <a:ext cx="424338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FINDINGS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72262" y="3069866"/>
            <a:ext cx="9854476" cy="171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6"/>
              </a:lnSpc>
              <a:spcBef>
                <a:spcPct val="0"/>
              </a:spcBef>
            </a:pPr>
          </a:p>
          <a:p>
            <a:pPr algn="l">
              <a:lnSpc>
                <a:spcPts val="3396"/>
              </a:lnSpc>
              <a:spcBef>
                <a:spcPct val="0"/>
              </a:spcBef>
            </a:pPr>
            <a:r>
              <a:rPr lang="en-US" sz="242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Systematic Investment Plans (SIPs) have established themselves as the primary stabilizer for retail capital in volatile environments.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2262" y="5727789"/>
            <a:ext cx="7912265" cy="129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242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Evidence indicates that B30 (beyond top 30 cities) regions are now pivotal drivers of long-term industry growth.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373901" y="2794197"/>
            <a:ext cx="1868266" cy="186826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373901" y="5381866"/>
            <a:ext cx="1868266" cy="1868266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528499" y="7907357"/>
            <a:ext cx="1868266" cy="1803344"/>
            <a:chOff x="0" y="0"/>
            <a:chExt cx="812800" cy="7845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84556"/>
            </a:xfrm>
            <a:custGeom>
              <a:avLst/>
              <a:gdLst/>
              <a:ahLst/>
              <a:cxnLst/>
              <a:rect r="r" b="b" t="t" l="l"/>
              <a:pathLst>
                <a:path h="784556" w="812800">
                  <a:moveTo>
                    <a:pt x="406400" y="0"/>
                  </a:moveTo>
                  <a:cubicBezTo>
                    <a:pt x="181951" y="0"/>
                    <a:pt x="0" y="175629"/>
                    <a:pt x="0" y="392278"/>
                  </a:cubicBezTo>
                  <a:cubicBezTo>
                    <a:pt x="0" y="608927"/>
                    <a:pt x="181951" y="784556"/>
                    <a:pt x="406400" y="784556"/>
                  </a:cubicBezTo>
                  <a:cubicBezTo>
                    <a:pt x="630849" y="784556"/>
                    <a:pt x="812800" y="608927"/>
                    <a:pt x="812800" y="392278"/>
                  </a:cubicBezTo>
                  <a:cubicBezTo>
                    <a:pt x="812800" y="175629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5927"/>
              <a:ext cx="660400" cy="685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373901" y="2984141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373901" y="5569829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b="true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88616" y="8064840"/>
            <a:ext cx="1638836" cy="1335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785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72262" y="7840682"/>
            <a:ext cx="8886088" cy="86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9"/>
              </a:lnSpc>
              <a:spcBef>
                <a:spcPct val="0"/>
              </a:spcBef>
            </a:pPr>
            <a:r>
              <a:rPr lang="en-US" sz="242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industry is witnessing a definitive transition toward low-cost, passive management frameworks.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5886522" y="731195"/>
            <a:ext cx="1372778" cy="1372778"/>
            <a:chOff x="0" y="0"/>
            <a:chExt cx="11671300" cy="11671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3"/>
              <a:stretch>
                <a:fillRect l="223" t="-4465" r="223" b="-4465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98500" y="3124200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1400" y="3124200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086461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37393" y="8792874"/>
            <a:ext cx="762324" cy="762324"/>
          </a:xfrm>
          <a:custGeom>
            <a:avLst/>
            <a:gdLst/>
            <a:ahLst/>
            <a:cxnLst/>
            <a:rect r="r" b="b" t="t" l="l"/>
            <a:pathLst>
              <a:path h="762324" w="762324">
                <a:moveTo>
                  <a:pt x="0" y="0"/>
                </a:moveTo>
                <a:lnTo>
                  <a:pt x="762323" y="0"/>
                </a:lnTo>
                <a:lnTo>
                  <a:pt x="762323" y="762323"/>
                </a:lnTo>
                <a:lnTo>
                  <a:pt x="0" y="7623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10412" y="8849432"/>
            <a:ext cx="7330988" cy="573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1"/>
              </a:lnSpc>
              <a:spcBef>
                <a:spcPct val="0"/>
              </a:spcBef>
            </a:pPr>
            <a:r>
              <a:rPr lang="en-US" sz="331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chouhanshubhangi2212@gmailcom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18555" y="4573643"/>
            <a:ext cx="7050891" cy="108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81"/>
              </a:lnSpc>
            </a:pPr>
            <a:r>
              <a:rPr lang="en-US" sz="31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1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 welcome further discussion on the analytical methodology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7983449" y="6130369"/>
            <a:ext cx="2353562" cy="2353562"/>
            <a:chOff x="0" y="0"/>
            <a:chExt cx="11671300" cy="116713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13265" y="189084"/>
              <a:ext cx="11324780" cy="11346497"/>
            </a:xfrm>
            <a:custGeom>
              <a:avLst/>
              <a:gdLst/>
              <a:ahLst/>
              <a:cxnLst/>
              <a:rect r="r" b="b" t="t" l="l"/>
              <a:pathLst>
                <a:path h="11346497" w="11324780">
                  <a:moveTo>
                    <a:pt x="5662390" y="57"/>
                  </a:moveTo>
                  <a:cubicBezTo>
                    <a:pt x="3642434" y="-9034"/>
                    <a:pt x="1772041" y="1070277"/>
                    <a:pt x="759446" y="2829304"/>
                  </a:cubicBezTo>
                  <a:cubicBezTo>
                    <a:pt x="-253149" y="4588330"/>
                    <a:pt x="-253149" y="6758168"/>
                    <a:pt x="759446" y="8517194"/>
                  </a:cubicBezTo>
                  <a:cubicBezTo>
                    <a:pt x="1772041" y="10276221"/>
                    <a:pt x="3642434" y="11355532"/>
                    <a:pt x="5662390" y="11346441"/>
                  </a:cubicBezTo>
                  <a:cubicBezTo>
                    <a:pt x="7682346" y="11355532"/>
                    <a:pt x="9552740" y="10276221"/>
                    <a:pt x="10565334" y="8517194"/>
                  </a:cubicBezTo>
                  <a:cubicBezTo>
                    <a:pt x="11577928" y="6758168"/>
                    <a:pt x="11577928" y="4588330"/>
                    <a:pt x="10565334" y="2829304"/>
                  </a:cubicBezTo>
                  <a:cubicBezTo>
                    <a:pt x="9552740" y="1070277"/>
                    <a:pt x="7682346" y="-9034"/>
                    <a:pt x="5662390" y="57"/>
                  </a:cubicBezTo>
                  <a:close/>
                </a:path>
              </a:pathLst>
            </a:custGeom>
            <a:blipFill>
              <a:blip r:embed="rId5"/>
              <a:stretch>
                <a:fillRect l="223" t="-4465" r="223" b="-4465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63362" cy="11663350"/>
            </a:xfrm>
            <a:custGeom>
              <a:avLst/>
              <a:gdLst/>
              <a:ahLst/>
              <a:cxnLst/>
              <a:rect r="r" b="b" t="t" l="l"/>
              <a:pathLst>
                <a:path h="11663350" w="11663362">
                  <a:moveTo>
                    <a:pt x="0" y="0"/>
                  </a:moveTo>
                  <a:lnTo>
                    <a:pt x="11663362" y="0"/>
                  </a:lnTo>
                  <a:lnTo>
                    <a:pt x="11663362" y="11663350"/>
                  </a:lnTo>
                  <a:lnTo>
                    <a:pt x="0" y="1166335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DAHMee_plJo</dc:identifier>
  <dcterms:modified xsi:type="dcterms:W3CDTF">2011-08-01T06:04:30Z</dcterms:modified>
  <cp:revision>1</cp:revision>
  <dc:title>Mutual fund analytics</dc:title>
</cp:coreProperties>
</file>